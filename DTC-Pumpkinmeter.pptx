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21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-27432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Pumpkinmeter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Collaborative Filtering Recommendation System</a:t>
            </a:r>
            <a:endParaRPr lang="en-US" sz="1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Personalized Movie Discovery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114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MLlib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269748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Collaborative Filtering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Devika Desai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Business Analytics  |  Seattle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834640" cy="4023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83464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60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contain thousands of movies, making content discovery difficult.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recommendations may not reflect individual preferences.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834640" cy="4023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0712" y="960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150876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Pumpkinmeter, a personalized movie recommendation system.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Collaborative Filtering (ALS) to identify users with similar viewing patterns.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recommendations based on user ratings.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834640" cy="4023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82512" y="960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150876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recommendation engine using Apache Spark MLlib.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under 25+ and 100+ rating thresholds.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impact of recommendation diversity and popularity.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Technology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MovieLens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Model development and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Train / Validation / Test split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ALS parameter tuning &amp; RMSE evaluation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114800" cy="2011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MovieLens 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Final recommendation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Scenario analysis (25+ and 100+ ratings)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</a:rPr>
              <a:t>Recommendations for User 1 and User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709160"/>
            <a:ext cx="4114800" cy="246888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33.8M ratings  |  330K+ Users  |  86K+ Movies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114800" cy="41148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1508760"/>
            <a:ext cx="3749040" cy="475488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54864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148840"/>
            <a:ext cx="3749040" cy="475488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2148840"/>
            <a:ext cx="54864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148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788920"/>
            <a:ext cx="3749040" cy="475488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2788920"/>
            <a:ext cx="54864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788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(Alternating Least Squares)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429000"/>
            <a:ext cx="3749040" cy="475488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3429000"/>
            <a:ext cx="54864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3429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RDDs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4069080"/>
            <a:ext cx="3749040" cy="475488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4069080"/>
            <a:ext cx="54864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4069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01168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01168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987552"/>
            <a:ext cx="640080" cy="6400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Small and Full MovieLens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ratings and movie information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ratings into Spark RDD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868680"/>
            <a:ext cx="201168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86868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987552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1709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Model Training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23774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ALS collaborative filtering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train-validation-test split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ALS parameters using RMSE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868680"/>
            <a:ext cx="201168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201168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0" y="987552"/>
            <a:ext cx="640080" cy="64008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9160" y="1709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Creation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23774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Movies with ≥ 25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Movies with ≥ 100 ratings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868680"/>
            <a:ext cx="201168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12280" y="868680"/>
            <a:ext cx="201168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0" y="987552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1709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1 and User 2 Profiles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Top 15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 across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560320" cy="4023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87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875404"/>
            <a:ext cx="2560320" cy="4023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0" y="868680"/>
            <a:ext cx="256032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46120" y="987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61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874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461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468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30632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36347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294A"/>
          </a:solidFill>
          <a:ln/>
        </p:spPr>
        <p:txBody>
          <a:bodyPr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</a:p>
        </p:txBody>
      </p:sp>
      <p:sp>
        <p:nvSpPr>
          <p:cNvPr id="29" name="Text 27"/>
          <p:cNvSpPr/>
          <p:nvPr/>
        </p:nvSpPr>
        <p:spPr>
          <a:xfrm>
            <a:off x="32461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868680"/>
            <a:ext cx="2926080" cy="18745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0" y="868680"/>
            <a:ext cx="29260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987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Scenarios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Scenario 1: Movies with 25+ ratings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Scenario 2: Movies with 100+ ratings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0" y="2880360"/>
            <a:ext cx="2926080" cy="2011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43600" y="2880360"/>
            <a:ext cx="292608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Cases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8076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 → Scenario 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8076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 → Scenario 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4169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 → Scenario 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0760" y="45171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 → Scenario 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Evaluation Approach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Train / Validation / Test Split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ALS Collaborative Filtering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RMSE used as evaluation metric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Hyperparameter tuning before final model selection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4114800" cy="16459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Best Model Parameters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" y="3858768"/>
            <a:ext cx="868680" cy="8229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43616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44752" y="3858768"/>
            <a:ext cx="868680" cy="8229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44752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44752" y="43616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3858768"/>
            <a:ext cx="868680" cy="8229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50592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50592" y="43616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3858768"/>
            <a:ext cx="868680" cy="8229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56432" y="43616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Results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19472" y="1508760"/>
            <a:ext cx="3749040" cy="5943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19472" y="1508760"/>
            <a:ext cx="54864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84064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Validation RMSE achieved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19472" y="2286000"/>
            <a:ext cx="3749040" cy="5943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2286000"/>
            <a:ext cx="54864" cy="59436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84064" y="2286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19472" y="3063240"/>
            <a:ext cx="3749040" cy="5943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19472" y="3063240"/>
            <a:ext cx="54864" cy="5943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84064" y="3063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Full MovieLens dataset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19472" y="3840480"/>
            <a:ext cx="3749040" cy="59436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19472" y="3840480"/>
            <a:ext cx="54864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84064" y="3840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User 1 &amp; User 2 recommendation scenarios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Result — User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82880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755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4140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30723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730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868680"/>
            <a:ext cx="320040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7440" y="868680"/>
            <a:ext cx="32004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Top Movies (25+ Ratings)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1536192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14600" y="1536192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Band of Brothers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2103120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14600" y="2103120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Planet Earth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2670048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14600" y="2670048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1760" y="2670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Planet Earth II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14600" y="3236976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3236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Shawshank Redemption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803904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14600" y="3803904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5176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Blue Planet II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868680"/>
            <a:ext cx="301752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52160" y="868680"/>
            <a:ext cx="301752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987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Top Movies (100+ Ratings)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89320" y="1536192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1536192"/>
            <a:ext cx="4572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26480" y="1536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Band of Brothers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89320" y="2103120"/>
            <a:ext cx="4572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2648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Shawshank Redemption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2670048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89320" y="2670048"/>
            <a:ext cx="4572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26480" y="2670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Planet Earth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9320" y="3236976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89320" y="3236976"/>
            <a:ext cx="4572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26480" y="3236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Planet Earth II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89320" y="3803904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89320" y="3803904"/>
            <a:ext cx="4572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2648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Blue Planet II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Result — User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75404"/>
            <a:ext cx="182880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182880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755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4140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30723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730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868680"/>
            <a:ext cx="320040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7440" y="868680"/>
            <a:ext cx="32004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Top Movies (25+ Ratings)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1536192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14600" y="1536192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2103120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14600" y="2103120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Rowan Atkinson: Not Just a Pretty Face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2670048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14600" y="2670048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1760" y="2670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Planet Earth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14600" y="3236976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3236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Planet Earth II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803904"/>
            <a:ext cx="292608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14600" y="3803904"/>
            <a:ext cx="457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5176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Spider-Man: Across the Spider-Verse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868680"/>
            <a:ext cx="3017520" cy="40690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52160" y="868680"/>
            <a:ext cx="301752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987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Top Movies (100+ Ratings)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89320" y="1536192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1536192"/>
            <a:ext cx="45720" cy="4572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26480" y="1536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Planet Earth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89320" y="2103120"/>
            <a:ext cx="45720" cy="4572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2648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Planet Earth II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2670048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89320" y="2670048"/>
            <a:ext cx="45720" cy="4572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26480" y="2670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Spider-Man: Across the Spider-Verse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9320" y="3236976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89320" y="3236976"/>
            <a:ext cx="45720" cy="4572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26480" y="3236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Wild China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89320" y="3803904"/>
            <a:ext cx="2743200" cy="4572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89320" y="3803904"/>
            <a:ext cx="45720" cy="4572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2648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Blue Planet II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 and User 2 received different recommendation patterns based on their rating preferences.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05156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vs Popularity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709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25+ rating threshold produced more diverse recommendations, while 100+ favored more popular titles.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Preference Learning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movies appeared across multiple scenarios, indicating ALS consistently identified strong user-content matches.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16052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Recommendation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85876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successfully generated personalized recommendations using the Full MovieLens dataset with 33.8M ratings.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for Pumpkinmeter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rating threshold increased recommendation diversity.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rating threshold produced more mainstream recommendations.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05156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Content Discovery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exposed users to niche and lesser-known movies.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highlighted highly rated and widely trusted content.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5486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received different recommendation patterns.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adapted to individual viewing preferences.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60520" cy="19659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Solution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8404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successfully processed 33.8M ratings.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potential for large-scale recommendation systems.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for Pumpkinmeter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89611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4864" cy="89611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78408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78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Movie Metadata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3258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genres, tags, and movie descriptions to improve recommendation relevance and support niche content discovery.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8595360" cy="89611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92808"/>
            <a:ext cx="54864" cy="89611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02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Implicit User Feedback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350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watch history, clicks, and browsing behavior to better understand user preferences beyond explicit ratings.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16936"/>
            <a:ext cx="8595360" cy="89611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16936"/>
            <a:ext cx="54864" cy="896112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594360" cy="59436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Hybrid Recommendation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3741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collaborative filtering with content-based filtering to improve recommendation diversity and reduce popularity bias.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941064"/>
            <a:ext cx="8595360" cy="89611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941064"/>
            <a:ext cx="54864" cy="8961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Recommendations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3982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 recommendations as new ratings and user interactions are generated.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4864" cy="60350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886968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scalable movie recommendation system using Apache Spark MLlib and ALS collaborative filtering.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563624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63624"/>
            <a:ext cx="54864" cy="6035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65506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generated personalized recommendations for two users with different movie preferences.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54864" cy="60350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350008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276856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recommendation behavior under two filtering scenarios (25+ and 100+ ratings).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53512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53512"/>
            <a:ext cx="54864" cy="603504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044952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297180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lower filtering thresholds increase diversity; higher thresholds favor popular content.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648456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48456"/>
            <a:ext cx="54864" cy="6035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73989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66674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and analyzed 33.8 million ratings from the Full MovieLens dataset using Spark's distributed computing.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343400"/>
            <a:ext cx="8595360" cy="603504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54864" cy="60350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361688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collaborative filtering can identify stable user preference patterns and consistently recommend relevant content.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182880"/>
            <a:ext cx="2286000" cy="22860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Devika Desai  |  M.S. Business Analytics  |  Seattle University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Pumpkinmeter — Personalized Movie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945</Words>
  <Application>Microsoft Office PowerPoint</Application>
  <PresentationFormat>On-screen Show (16:9)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Pumpkinmeter – Recommendation System</dc:title>
  <dc:subject>PptxGenJS Presentation</dc:subject>
  <dc:creator>PptxGenJS</dc:creator>
  <cp:lastModifiedBy>Devika Desai</cp:lastModifiedBy>
  <cp:revision>4</cp:revision>
  <dcterms:created xsi:type="dcterms:W3CDTF">2026-06-05T23:04:02Z</dcterms:created>
  <dcterms:modified xsi:type="dcterms:W3CDTF">2026-06-06T01:13:27Z</dcterms:modified>
</cp:coreProperties>
</file>